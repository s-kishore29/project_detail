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Manual vs SODMS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System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Match Time (hrs)</c:v>
                  </c:pt>
                  <c:pt idx="1">
                    <c:v>Organ Waste (%)</c:v>
                  </c:pt>
                  <c:pt idx="2">
                    <c:v>Success Rate (%)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42</c:v>
                </c:pt>
                <c:pt idx="2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SODMS</c:v>
                </c:pt>
              </c:strCache>
            </c:strRef>
          </c:tx>
          <c:spPr>
            <a:solidFill>
              <a:srgbClr val="0D7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Match Time (hrs)</c:v>
                  </c:pt>
                  <c:pt idx="1">
                    <c:v>Organ Waste (%)</c:v>
                  </c:pt>
                  <c:pt idx="2">
                    <c:v>Success Rate (%)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12</c:v>
                </c:pt>
                <c:pt idx="2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0D20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1AA3B5">
              <a:alpha val="30000"/>
            </a:srgbClr>
          </a:solidFill>
          <a:ln w="12700">
            <a:solidFill>
              <a:srgbClr val="1AA3B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0"/>
            <a:ext cx="2743200" cy="2743200"/>
          </a:xfrm>
          <a:prstGeom prst="ellipse">
            <a:avLst/>
          </a:prstGeom>
          <a:solidFill>
            <a:srgbClr val="1AA3B5">
              <a:alpha val="40000"/>
            </a:srgbClr>
          </a:solidFill>
          <a:ln w="12700">
            <a:solidFill>
              <a:srgbClr val="1AA3B5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246888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490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ORGAN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749040" y="1554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DONATION &amp;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749040" y="23317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SYSTEM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3749040" y="3200400"/>
            <a:ext cx="50292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7"/>
          <p:cNvSpPr/>
          <p:nvPr/>
        </p:nvSpPr>
        <p:spPr>
          <a:xfrm>
            <a:off x="374904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Lives Through Intelligent Technology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490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Next-Generation Healthcare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2402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die daily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an organ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280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2402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on transplant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lists (USA alone)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donated organs 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or wasted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Challenges: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 matching processes lead to missed life-saving opportunities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data sharing between hospitals, donors, and recipients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transparency and trust in organ allocation decisions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Organ Donation &amp; Matching System (SODMS)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real-time platform that connects donors, recipients, hospitals and medical professionals — accelerating organ matching and saving lives.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103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31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194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Matching Algorithm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compatibility scoring across blood type, HLA, geography &amp; urgency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21031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31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194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Registry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national donor &amp; recipient database with real-time sync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8600" y="34747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033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Alerts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0584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to hospitals when a match is found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347472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7033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566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Auditable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Blockchain-backed records for transparent, tamper-proof allocation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8686800" cy="822960"/>
          </a:xfrm>
          <a:prstGeom prst="roundRect">
            <a:avLst>
              <a:gd name="adj" fmla="val 8889"/>
            </a:avLst>
          </a:prstGeom>
          <a:solidFill>
            <a:srgbClr val="1AA3B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1704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 |  Mobile App  |  Hospital Dashboard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0" cy="164592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993392"/>
            <a:ext cx="8686800" cy="822960"/>
          </a:xfrm>
          <a:prstGeom prst="roundRect">
            <a:avLst>
              <a:gd name="adj" fmla="val 8889"/>
            </a:avLst>
          </a:prstGeom>
          <a:solidFill>
            <a:srgbClr val="0D7A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39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/ Middleware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157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 |  Authentication  |  Load Balancer  |  Notification Service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816352"/>
            <a:ext cx="0" cy="164592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980944"/>
            <a:ext cx="8686800" cy="822960"/>
          </a:xfrm>
          <a:prstGeom prst="roundRect">
            <a:avLst>
              <a:gd name="adj" fmla="val 8889"/>
            </a:avLst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26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1455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 |  Donor Registry  |  Recipient Registry  |  Medical Records Service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3803904"/>
            <a:ext cx="0" cy="164592"/>
          </a:xfrm>
          <a:prstGeom prst="line">
            <a:avLst/>
          </a:prstGeom>
          <a:noFill/>
          <a:ln w="25400">
            <a:solidFill>
              <a:srgbClr val="0D7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968496"/>
            <a:ext cx="8686800" cy="822960"/>
          </a:xfrm>
          <a:prstGeom prst="roundRect">
            <a:avLst>
              <a:gd name="adj" fmla="val 8889"/>
            </a:avLst>
          </a:prstGeom>
          <a:solidFill>
            <a:srgbClr val="0A4A5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14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41330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(PostgreSQL)  |  Blockchain Ledger  |  Cache (Redis)  |  File Store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8600" y="47091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All layers communicate via encrypted HTTPS and JWT-secured APIs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DATABASE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" y="914400"/>
            <a:ext cx="1691640" cy="2606040"/>
          </a:xfrm>
          <a:prstGeom prst="roundRect">
            <a:avLst>
              <a:gd name="adj" fmla="val 3784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" y="914400"/>
            <a:ext cx="1691640" cy="292608"/>
          </a:xfrm>
          <a:prstGeom prst="roundRect">
            <a:avLst>
              <a:gd name="adj" fmla="val 21875"/>
            </a:avLst>
          </a:prstGeom>
          <a:solidFill>
            <a:srgbClr val="0D7A8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" y="932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" y="1234440"/>
            <a:ext cx="158191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donor_id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60920" y="914400"/>
            <a:ext cx="1691640" cy="2286000"/>
          </a:xfrm>
          <a:prstGeom prst="roundRect">
            <a:avLst>
              <a:gd name="adj" fmla="val 3784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60920" y="914400"/>
            <a:ext cx="1691640" cy="292608"/>
          </a:xfrm>
          <a:prstGeom prst="roundRect">
            <a:avLst>
              <a:gd name="adj" fmla="val 21875"/>
            </a:avLst>
          </a:prstGeom>
          <a:solidFill>
            <a:srgbClr val="1B5E8A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932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15784" y="1234440"/>
            <a:ext cx="15819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recipient_id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medical_urgency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841248"/>
            <a:ext cx="2103120" cy="2103120"/>
          </a:xfrm>
          <a:prstGeom prst="roundRect">
            <a:avLst>
              <a:gd name="adj" fmla="val 3043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841248"/>
            <a:ext cx="2103120" cy="292608"/>
          </a:xfrm>
          <a:prstGeom prst="roundRect">
            <a:avLst>
              <a:gd name="adj" fmla="val 21875"/>
            </a:avLst>
          </a:prstGeom>
          <a:solidFill>
            <a:srgbClr val="E84855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859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75304" y="1161288"/>
            <a:ext cx="199339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organ_id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organ_type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harvest_time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expiry_time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hla_profile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20440" y="3246120"/>
            <a:ext cx="2103120" cy="1920240"/>
          </a:xfrm>
          <a:prstGeom prst="roundRect">
            <a:avLst>
              <a:gd name="adj" fmla="val 3333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3246120"/>
            <a:ext cx="2103120" cy="292608"/>
          </a:xfrm>
          <a:prstGeom prst="roundRect">
            <a:avLst>
              <a:gd name="adj" fmla="val 21875"/>
            </a:avLst>
          </a:prstGeom>
          <a:solidFill>
            <a:srgbClr val="7B2D8B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3264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75304" y="35661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match_id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approved_by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9728" y="3566160"/>
            <a:ext cx="1691640" cy="1508760"/>
          </a:xfrm>
          <a:prstGeom prst="roundRect">
            <a:avLst>
              <a:gd name="adj" fmla="val 4242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" y="3566160"/>
            <a:ext cx="1691640" cy="292608"/>
          </a:xfrm>
          <a:prstGeom prst="roundRect">
            <a:avLst>
              <a:gd name="adj" fmla="val 21875"/>
            </a:avLst>
          </a:prstGeom>
          <a:solidFill>
            <a:srgbClr val="1A6640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" y="3584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" y="3886200"/>
            <a:ext cx="158191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hospital_id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contact_phone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60920" y="338328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60920" y="3383280"/>
            <a:ext cx="1691640" cy="292608"/>
          </a:xfrm>
          <a:prstGeom prst="roundRect">
            <a:avLst>
              <a:gd name="adj" fmla="val 21875"/>
            </a:avLst>
          </a:prstGeom>
          <a:solidFill>
            <a:srgbClr val="7A45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34015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STAFF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15784" y="3703320"/>
            <a:ext cx="1581912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staff_id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license_no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20440" y="406908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1122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20440" y="4069080"/>
            <a:ext cx="2103120" cy="292608"/>
          </a:xfrm>
          <a:prstGeom prst="roundRect">
            <a:avLst>
              <a:gd name="adj" fmla="val 21875"/>
            </a:avLst>
          </a:prstGeom>
          <a:solidFill>
            <a:srgbClr val="4A0E6A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4087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TRANSPLANT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75304" y="438912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transplant_id (PK)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hospital_id (FK)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01368" y="1783080"/>
            <a:ext cx="1719072" cy="-228600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377440" y="1536192"/>
            <a:ext cx="548640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15453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0" y="2944368"/>
            <a:ext cx="0" cy="301752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297680" y="2962656"/>
            <a:ext cx="548640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0" y="29718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60920" y="2377440"/>
            <a:ext cx="-1737360" cy="1143000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217920" y="2798064"/>
            <a:ext cx="548640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2807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01368" y="3840480"/>
            <a:ext cx="5559552" cy="-1920240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297680" y="2752344"/>
            <a:ext cx="548640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0" y="27614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0" y="5166360"/>
            <a:ext cx="0" cy="-274320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7360920" y="3840480"/>
            <a:ext cx="-1737360" cy="502920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217920" y="3941064"/>
            <a:ext cx="548640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3950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01368" y="4206240"/>
            <a:ext cx="1719072" cy="182880"/>
          </a:xfrm>
          <a:prstGeom prst="line">
            <a:avLst/>
          </a:prstGeom>
          <a:noFill/>
          <a:ln w="15240">
            <a:solidFill>
              <a:srgbClr val="1AA3B5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377440" y="4169664"/>
            <a:ext cx="548640" cy="25603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50" name="Text 48"/>
          <p:cNvSpPr/>
          <p:nvPr/>
        </p:nvSpPr>
        <p:spPr>
          <a:xfrm>
            <a:off x="2377440" y="41788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09728" y="4846320"/>
            <a:ext cx="8924544" cy="219456"/>
          </a:xfrm>
          <a:prstGeom prst="roundRect">
            <a:avLst>
              <a:gd name="adj" fmla="val 20833"/>
            </a:avLst>
          </a:prstGeom>
          <a:solidFill>
            <a:srgbClr val="0D2033"/>
          </a:solidFill>
          <a:ln/>
        </p:spPr>
      </p:sp>
      <p:sp>
        <p:nvSpPr>
          <p:cNvPr id="52" name="Text 50"/>
          <p:cNvSpPr/>
          <p:nvPr/>
        </p:nvSpPr>
        <p:spPr>
          <a:xfrm>
            <a:off x="137160" y="4855464"/>
            <a:ext cx="8869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PK = Primary Key   |   FK = Foreign Key   |   Dashed lines = Relationships   |   Ovals = Relationship Names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SYSTEM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161288"/>
            <a:ext cx="502920" cy="502920"/>
          </a:xfrm>
          <a:prstGeom prst="ellipse">
            <a:avLst/>
          </a:prstGeom>
          <a:solidFill>
            <a:srgbClr val="0D7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17957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Management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8328" y="1737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verify donors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medical &amp; organ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donation status &amp; history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0515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82696" y="1161288"/>
            <a:ext cx="502920" cy="502920"/>
          </a:xfrm>
          <a:prstGeom prst="ellipse">
            <a:avLst/>
          </a:prstGeom>
          <a:solidFill>
            <a:srgbClr val="1B5E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17957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 Management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82696" y="1737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recipient waitlists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medical urgency levels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Hospital-linked profiles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17336" y="105156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27064" y="1161288"/>
            <a:ext cx="502920" cy="502920"/>
          </a:xfrm>
          <a:prstGeom prst="ellipse">
            <a:avLst/>
          </a:prstGeom>
          <a:solidFill>
            <a:srgbClr val="E848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17957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48856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Engine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27064" y="17373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&amp; HLA compatibility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proximity scoring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urgency ranking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28600" y="30175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38328" y="3127248"/>
            <a:ext cx="502920" cy="502920"/>
          </a:xfrm>
          <a:prstGeom prst="ellipse">
            <a:avLst/>
          </a:prstGeom>
          <a:solidFill>
            <a:srgbClr val="1A664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3145536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Module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38328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onboarding &amp; verification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room scheduling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outcome tracking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30175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82696" y="3127248"/>
            <a:ext cx="502920" cy="502920"/>
          </a:xfrm>
          <a:prstGeom prst="ellipse">
            <a:avLst/>
          </a:prstGeom>
          <a:solidFill>
            <a:srgbClr val="7A450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3145536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82696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waiting list stats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success rate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availability heatmap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17336" y="30175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27064" y="3127248"/>
            <a:ext cx="502920" cy="502920"/>
          </a:xfrm>
          <a:prstGeom prst="ellipse">
            <a:avLst/>
          </a:prstGeom>
          <a:solidFill>
            <a:srgbClr val="7B2D8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145536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48856" y="3154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System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27064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SMS/email alerts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notifications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expiry warnings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MATCHING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8872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 Harvested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7472" y="23317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confirmed, organ details entered into system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164592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8872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39112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Type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66544" y="23317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type, blood group &amp; HLA compatibility filter applied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47872" y="2240280"/>
            <a:ext cx="164592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12464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5384" y="118872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21538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58184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Candidates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85616" y="23317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scores: urgency × compatibility × distance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66944" y="2240280"/>
            <a:ext cx="164592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34456" y="118872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593445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77256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Recipients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04688" y="23317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recipient selected; ties broken by wait 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86016" y="2240280"/>
            <a:ext cx="164592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0608" y="1097280"/>
            <a:ext cx="1554480" cy="2286000"/>
          </a:xfrm>
          <a:prstGeom prst="roundRect">
            <a:avLst>
              <a:gd name="adj" fmla="val 5882"/>
            </a:avLst>
          </a:prstGeom>
          <a:solidFill>
            <a:srgbClr val="0D3A4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118872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765352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96328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&amp; Confirm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23760" y="233172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surgeon notified; confirmation window: 1 hour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8412480" cy="1325880"/>
          </a:xfrm>
          <a:prstGeom prst="roundRect">
            <a:avLst>
              <a:gd name="adj" fmla="val 6897"/>
            </a:avLst>
          </a:prstGeom>
          <a:solidFill>
            <a:srgbClr val="0D2033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639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Score Formula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(0.35 × Compatibility) + (0.30 × Urgency) + (0.20 × Proximity) + (0.15 × WaitTime)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normalized 0–1  |  Minimum threshold: 0.65  |  Override possible by transplant committee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B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Next.js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(Mobile)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(Analytics)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41448" y="100584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41448" y="1005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D7A8A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32888" y="150876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(ML Service)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/ REST API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54296" y="100584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54296" y="1005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A6640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45736" y="150876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(main DB)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(caching)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(search)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(documents)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67144" y="1005840"/>
            <a:ext cx="2011680" cy="3886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67144" y="10058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E84855"/>
          </a:solidFill>
          <a:ln/>
        </p:spPr>
      </p:sp>
      <p:sp>
        <p:nvSpPr>
          <p:cNvPr id="18" name="Text 16"/>
          <p:cNvSpPr/>
          <p:nvPr/>
        </p:nvSpPr>
        <p:spPr>
          <a:xfrm>
            <a:off x="6867144" y="1033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58584" y="150876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Cloud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(GitHub Actions)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(Hyperledger)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" y="100584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0584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0D20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21808" y="107899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0" y="11155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matching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manual process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12080" y="196596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0D20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21808" y="20391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0" y="2075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lives saved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1000 donors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292608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0D20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21808" y="299923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0" y="3035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auto-failover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388620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0D2033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321808" y="395935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00800" y="39959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7A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AA3B5">
              <a:alpha val="20000"/>
            </a:srgbClr>
          </a:solidFill>
          <a:ln w="12700">
            <a:solidFill>
              <a:srgbClr val="1AA3B5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943600" y="10972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Second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Counts.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Organ Donation &amp; Matching System transforms a life-critical process from manual and slow to automated, intelligent, and equitable — giving every patient on the waitlist the best possible chance.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886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904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Matching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388620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39044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36168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3799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Records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0" y="436168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D7A8A"/>
          </a:solidFill>
          <a:ln/>
        </p:spPr>
      </p:sp>
      <p:sp>
        <p:nvSpPr>
          <p:cNvPr id="15" name="Text 12"/>
          <p:cNvSpPr/>
          <p:nvPr/>
        </p:nvSpPr>
        <p:spPr>
          <a:xfrm>
            <a:off x="3108960" y="43799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Organ Donation and Matching System</dc:title>
  <dc:subject>PptxGenJS Presentation</dc:subject>
  <dc:creator>PptxGenJS</dc:creator>
  <cp:lastModifiedBy>PptxGenJS</cp:lastModifiedBy>
  <cp:revision>1</cp:revision>
  <dcterms:created xsi:type="dcterms:W3CDTF">2026-06-11T07:16:42Z</dcterms:created>
  <dcterms:modified xsi:type="dcterms:W3CDTF">2026-06-11T07:16:42Z</dcterms:modified>
</cp:coreProperties>
</file>